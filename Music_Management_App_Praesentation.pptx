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69" r:id="rId14"/>
    <p:sldId id="268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64762-F5F9-5949-3DB7-0D9C7416B702}" v="2" dt="2026-06-30T09:23:18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Mike Bretscher" userId="293b67a9-7d5d-4ee3-a002-2c4a15b7f708" providerId="ADAL" clId="{CCB38060-87D6-40C7-8808-AFE5CC9F578C}"/>
    <pc:docChg chg="custSel modSld">
      <pc:chgData name="Jan Mike Bretscher" userId="293b67a9-7d5d-4ee3-a002-2c4a15b7f708" providerId="ADAL" clId="{CCB38060-87D6-40C7-8808-AFE5CC9F578C}" dt="2026-06-19T11:19:14.181" v="138" actId="20577"/>
      <pc:docMkLst>
        <pc:docMk/>
      </pc:docMkLst>
      <pc:sldChg chg="modSp mod">
        <pc:chgData name="Jan Mike Bretscher" userId="293b67a9-7d5d-4ee3-a002-2c4a15b7f708" providerId="ADAL" clId="{CCB38060-87D6-40C7-8808-AFE5CC9F578C}" dt="2026-06-19T11:13:33.003" v="0" actId="20577"/>
        <pc:sldMkLst>
          <pc:docMk/>
          <pc:sldMk cId="0" sldId="258"/>
        </pc:sldMkLst>
        <pc:spChg chg="mod">
          <ac:chgData name="Jan Mike Bretscher" userId="293b67a9-7d5d-4ee3-a002-2c4a15b7f708" providerId="ADAL" clId="{CCB38060-87D6-40C7-8808-AFE5CC9F578C}" dt="2026-06-19T11:13:33.003" v="0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Jan Mike Bretscher" userId="293b67a9-7d5d-4ee3-a002-2c4a15b7f708" providerId="ADAL" clId="{CCB38060-87D6-40C7-8808-AFE5CC9F578C}" dt="2026-06-19T11:15:43.098" v="50" actId="20577"/>
        <pc:sldMkLst>
          <pc:docMk/>
          <pc:sldMk cId="0" sldId="259"/>
        </pc:sldMkLst>
        <pc:spChg chg="mod">
          <ac:chgData name="Jan Mike Bretscher" userId="293b67a9-7d5d-4ee3-a002-2c4a15b7f708" providerId="ADAL" clId="{CCB38060-87D6-40C7-8808-AFE5CC9F578C}" dt="2026-06-19T11:14:19.251" v="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Jan Mike Bretscher" userId="293b67a9-7d5d-4ee3-a002-2c4a15b7f708" providerId="ADAL" clId="{CCB38060-87D6-40C7-8808-AFE5CC9F578C}" dt="2026-06-19T11:14:22.442" v="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Jan Mike Bretscher" userId="293b67a9-7d5d-4ee3-a002-2c4a15b7f708" providerId="ADAL" clId="{CCB38060-87D6-40C7-8808-AFE5CC9F578C}" dt="2026-06-19T11:15:13.109" v="41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an Mike Bretscher" userId="293b67a9-7d5d-4ee3-a002-2c4a15b7f708" providerId="ADAL" clId="{CCB38060-87D6-40C7-8808-AFE5CC9F578C}" dt="2026-06-19T11:15:43.098" v="50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Jan Mike Bretscher" userId="293b67a9-7d5d-4ee3-a002-2c4a15b7f708" providerId="ADAL" clId="{CCB38060-87D6-40C7-8808-AFE5CC9F578C}" dt="2026-06-19T11:16:02.333" v="57" actId="20577"/>
        <pc:sldMkLst>
          <pc:docMk/>
          <pc:sldMk cId="0" sldId="260"/>
        </pc:sldMkLst>
        <pc:spChg chg="mod">
          <ac:chgData name="Jan Mike Bretscher" userId="293b67a9-7d5d-4ee3-a002-2c4a15b7f708" providerId="ADAL" clId="{CCB38060-87D6-40C7-8808-AFE5CC9F578C}" dt="2026-06-19T11:16:02.333" v="57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Jan Mike Bretscher" userId="293b67a9-7d5d-4ee3-a002-2c4a15b7f708" providerId="ADAL" clId="{CCB38060-87D6-40C7-8808-AFE5CC9F578C}" dt="2026-06-19T11:17:27.013" v="90" actId="20577"/>
        <pc:sldMkLst>
          <pc:docMk/>
          <pc:sldMk cId="0" sldId="261"/>
        </pc:sldMkLst>
        <pc:spChg chg="mod">
          <ac:chgData name="Jan Mike Bretscher" userId="293b67a9-7d5d-4ee3-a002-2c4a15b7f708" providerId="ADAL" clId="{CCB38060-87D6-40C7-8808-AFE5CC9F578C}" dt="2026-06-19T11:16:33.754" v="64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n Mike Bretscher" userId="293b67a9-7d5d-4ee3-a002-2c4a15b7f708" providerId="ADAL" clId="{CCB38060-87D6-40C7-8808-AFE5CC9F578C}" dt="2026-06-19T11:16:41.348" v="66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an Mike Bretscher" userId="293b67a9-7d5d-4ee3-a002-2c4a15b7f708" providerId="ADAL" clId="{CCB38060-87D6-40C7-8808-AFE5CC9F578C}" dt="2026-06-19T11:17:14.995" v="87" actId="2057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Jan Mike Bretscher" userId="293b67a9-7d5d-4ee3-a002-2c4a15b7f708" providerId="ADAL" clId="{CCB38060-87D6-40C7-8808-AFE5CC9F578C}" dt="2026-06-19T11:17:27.013" v="90" actId="20577"/>
          <ac:spMkLst>
            <pc:docMk/>
            <pc:sldMk cId="0" sldId="261"/>
            <ac:spMk id="32" creationId="{00000000-0000-0000-0000-000000000000}"/>
          </ac:spMkLst>
        </pc:spChg>
      </pc:sldChg>
      <pc:sldChg chg="modSp mod">
        <pc:chgData name="Jan Mike Bretscher" userId="293b67a9-7d5d-4ee3-a002-2c4a15b7f708" providerId="ADAL" clId="{CCB38060-87D6-40C7-8808-AFE5CC9F578C}" dt="2026-06-19T11:17:57.960" v="91" actId="20577"/>
        <pc:sldMkLst>
          <pc:docMk/>
          <pc:sldMk cId="0" sldId="262"/>
        </pc:sldMkLst>
        <pc:spChg chg="mod">
          <ac:chgData name="Jan Mike Bretscher" userId="293b67a9-7d5d-4ee3-a002-2c4a15b7f708" providerId="ADAL" clId="{CCB38060-87D6-40C7-8808-AFE5CC9F578C}" dt="2026-06-19T11:17:57.960" v="91" actId="20577"/>
          <ac:spMkLst>
            <pc:docMk/>
            <pc:sldMk cId="0" sldId="262"/>
            <ac:spMk id="10" creationId="{00000000-0000-0000-0000-000000000000}"/>
          </ac:spMkLst>
        </pc:spChg>
      </pc:sldChg>
    </pc:docChg>
  </pc:docChgLst>
  <pc:docChgLst>
    <pc:chgData name="Gian Miguel Seijas" userId="S::gian.seijas@lernende.bbw.ch::72bd3707-9476-4e5d-bafe-f8c5b7e86c25" providerId="AD" clId="Web-{00455AA4-7565-4663-1271-98483DF10A13}"/>
    <pc:docChg chg="modSld">
      <pc:chgData name="Gian Miguel Seijas" userId="S::gian.seijas@lernende.bbw.ch::72bd3707-9476-4e5d-bafe-f8c5b7e86c25" providerId="AD" clId="Web-{00455AA4-7565-4663-1271-98483DF10A13}" dt="2026-06-23T06:31:18.104" v="6"/>
      <pc:docMkLst>
        <pc:docMk/>
      </pc:docMkLst>
      <pc:sldChg chg="modNotes">
        <pc:chgData name="Gian Miguel Seijas" userId="S::gian.seijas@lernende.bbw.ch::72bd3707-9476-4e5d-bafe-f8c5b7e86c25" providerId="AD" clId="Web-{00455AA4-7565-4663-1271-98483DF10A13}" dt="2026-06-23T06:31:18.104" v="6"/>
        <pc:sldMkLst>
          <pc:docMk/>
          <pc:sldMk cId="0" sldId="264"/>
        </pc:sldMkLst>
      </pc:sldChg>
      <pc:sldChg chg="modNotes">
        <pc:chgData name="Gian Miguel Seijas" userId="S::gian.seijas@lernende.bbw.ch::72bd3707-9476-4e5d-bafe-f8c5b7e86c25" providerId="AD" clId="Web-{00455AA4-7565-4663-1271-98483DF10A13}" dt="2026-06-23T06:31:13.120" v="3"/>
        <pc:sldMkLst>
          <pc:docMk/>
          <pc:sldMk cId="0" sldId="270"/>
        </pc:sldMkLst>
      </pc:sldChg>
    </pc:docChg>
  </pc:docChgLst>
  <pc:docChgLst>
    <pc:chgData name="Jan Mike Bretscher" userId="293b67a9-7d5d-4ee3-a002-2c4a15b7f708" providerId="ADAL" clId="{DAFB1E6A-B67B-4A85-8629-7B4972D6B9FD}"/>
    <pc:docChg chg="custSel modSld">
      <pc:chgData name="Jan Mike Bretscher" userId="293b67a9-7d5d-4ee3-a002-2c4a15b7f708" providerId="ADAL" clId="{DAFB1E6A-B67B-4A85-8629-7B4972D6B9FD}" dt="2026-06-23T07:39:08.540" v="15" actId="1076"/>
      <pc:docMkLst>
        <pc:docMk/>
      </pc:docMkLst>
      <pc:sldChg chg="delSp modSp mod">
        <pc:chgData name="Jan Mike Bretscher" userId="293b67a9-7d5d-4ee3-a002-2c4a15b7f708" providerId="ADAL" clId="{DAFB1E6A-B67B-4A85-8629-7B4972D6B9FD}" dt="2026-06-23T07:39:08.540" v="15" actId="1076"/>
        <pc:sldMkLst>
          <pc:docMk/>
          <pc:sldMk cId="0" sldId="257"/>
        </pc:sldMkLst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8:49.017" v="14" actId="6549"/>
          <ac:spMkLst>
            <pc:docMk/>
            <pc:sldMk cId="0" sldId="257"/>
            <ac:spMk id="29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9:08.540" v="15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8:36.873" v="12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Jan Mike Bretscher" userId="293b67a9-7d5d-4ee3-a002-2c4a15b7f708" providerId="ADAL" clId="{DAFB1E6A-B67B-4A85-8629-7B4972D6B9FD}" dt="2026-06-23T07:38:02.951" v="5" actId="21"/>
          <ac:spMkLst>
            <pc:docMk/>
            <pc:sldMk cId="0" sldId="257"/>
            <ac:spMk id="37" creationId="{00000000-0000-0000-0000-000000000000}"/>
          </ac:spMkLst>
        </pc:spChg>
      </pc:sldChg>
      <pc:sldChg chg="delSp modSp mod">
        <pc:chgData name="Jan Mike Bretscher" userId="293b67a9-7d5d-4ee3-a002-2c4a15b7f708" providerId="ADAL" clId="{DAFB1E6A-B67B-4A85-8629-7B4972D6B9FD}" dt="2026-06-23T06:54:25.557" v="4" actId="478"/>
        <pc:sldMkLst>
          <pc:docMk/>
          <pc:sldMk cId="0" sldId="262"/>
        </pc:sldMkLst>
        <pc:spChg chg="mod">
          <ac:chgData name="Jan Mike Bretscher" userId="293b67a9-7d5d-4ee3-a002-2c4a15b7f708" providerId="ADAL" clId="{DAFB1E6A-B67B-4A85-8629-7B4972D6B9FD}" dt="2026-06-23T06:53:50.966" v="2" actId="6549"/>
          <ac:spMkLst>
            <pc:docMk/>
            <pc:sldMk cId="0" sldId="262"/>
            <ac:spMk id="14" creationId="{00000000-0000-0000-0000-000000000000}"/>
          </ac:spMkLst>
        </pc:spChg>
      </pc:sldChg>
      <pc:sldChg chg="mod modShow">
        <pc:chgData name="Jan Mike Bretscher" userId="293b67a9-7d5d-4ee3-a002-2c4a15b7f708" providerId="ADAL" clId="{DAFB1E6A-B67B-4A85-8629-7B4972D6B9FD}" dt="2026-06-23T06:15:21.643" v="0" actId="729"/>
        <pc:sldMkLst>
          <pc:docMk/>
          <pc:sldMk cId="0" sldId="267"/>
        </pc:sldMkLst>
      </pc:sldChg>
    </pc:docChg>
  </pc:docChgLst>
  <pc:docChgLst>
    <pc:chgData name="Fiona Aline Brunner" userId="S::fiona.brunner@lernende.bbw.ch::98e7ca8b-1fe6-4d99-88d6-a8deb4794937" providerId="AD" clId="Web-{96264762-F5F9-5949-3DB7-0D9C7416B702}"/>
    <pc:docChg chg="delSld">
      <pc:chgData name="Fiona Aline Brunner" userId="S::fiona.brunner@lernende.bbw.ch::98e7ca8b-1fe6-4d99-88d6-a8deb4794937" providerId="AD" clId="Web-{96264762-F5F9-5949-3DB7-0D9C7416B702}" dt="2026-06-30T09:23:18.964" v="1"/>
      <pc:docMkLst>
        <pc:docMk/>
      </pc:docMkLst>
      <pc:sldChg chg="del">
        <pc:chgData name="Fiona Aline Brunner" userId="S::fiona.brunner@lernende.bbw.ch::98e7ca8b-1fe6-4d99-88d6-a8deb4794937" providerId="AD" clId="Web-{96264762-F5F9-5949-3DB7-0D9C7416B702}" dt="2026-06-30T09:23:13.761" v="0"/>
        <pc:sldMkLst>
          <pc:docMk/>
          <pc:sldMk cId="0" sldId="263"/>
        </pc:sldMkLst>
      </pc:sldChg>
      <pc:sldChg chg="del">
        <pc:chgData name="Fiona Aline Brunner" userId="S::fiona.brunner@lernende.bbw.ch::98e7ca8b-1fe6-4d99-88d6-a8deb4794937" providerId="AD" clId="Web-{96264762-F5F9-5949-3DB7-0D9C7416B702}" dt="2026-06-30T09:23:18.964" v="1"/>
        <pc:sldMkLst>
          <pc:docMk/>
          <pc:sldMk cId="0" sldId="267"/>
        </pc:sldMkLst>
      </pc:sldChg>
    </pc:docChg>
  </pc:docChgLst>
  <pc:docChgLst>
    <pc:chgData name="Gian Miguel Seijas" userId="S::gian.seijas@lernende.bbw.ch::72bd3707-9476-4e5d-bafe-f8c5b7e86c25" providerId="AD" clId="Web-{67A08A29-4476-6F0C-2424-319B0C43A7FC}"/>
    <pc:docChg chg="delSld modSld">
      <pc:chgData name="Gian Miguel Seijas" userId="S::gian.seijas@lernende.bbw.ch::72bd3707-9476-4e5d-bafe-f8c5b7e86c25" providerId="AD" clId="Web-{67A08A29-4476-6F0C-2424-319B0C43A7FC}" dt="2026-06-23T06:02:28.786" v="46"/>
      <pc:docMkLst>
        <pc:docMk/>
      </pc:docMkLst>
      <pc:sldChg chg="modNotes">
        <pc:chgData name="Gian Miguel Seijas" userId="S::gian.seijas@lernende.bbw.ch::72bd3707-9476-4e5d-bafe-f8c5b7e86c25" providerId="AD" clId="Web-{67A08A29-4476-6F0C-2424-319B0C43A7FC}" dt="2026-06-23T05:58:14.679" v="4"/>
        <pc:sldMkLst>
          <pc:docMk/>
          <pc:sldMk cId="0" sldId="256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5:58:21.507" v="9"/>
        <pc:sldMkLst>
          <pc:docMk/>
          <pc:sldMk cId="0" sldId="257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5:58:25.991" v="10"/>
        <pc:sldMkLst>
          <pc:docMk/>
          <pc:sldMk cId="0" sldId="258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5:58:30.429" v="12"/>
        <pc:sldMkLst>
          <pc:docMk/>
          <pc:sldMk cId="0" sldId="259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5:58:44.897" v="14"/>
        <pc:sldMkLst>
          <pc:docMk/>
          <pc:sldMk cId="0" sldId="260"/>
        </pc:sldMkLst>
      </pc:sldChg>
      <pc:sldChg chg="delSp modNotes">
        <pc:chgData name="Gian Miguel Seijas" userId="S::gian.seijas@lernende.bbw.ch::72bd3707-9476-4e5d-bafe-f8c5b7e86c25" providerId="AD" clId="Web-{67A08A29-4476-6F0C-2424-319B0C43A7FC}" dt="2026-06-23T05:59:28.647" v="20"/>
        <pc:sldMkLst>
          <pc:docMk/>
          <pc:sldMk cId="0" sldId="261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0:31.350" v="25"/>
        <pc:sldMkLst>
          <pc:docMk/>
          <pc:sldMk cId="0" sldId="262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0:46.803" v="30"/>
        <pc:sldMkLst>
          <pc:docMk/>
          <pc:sldMk cId="0" sldId="264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1:32.256" v="33"/>
        <pc:sldMkLst>
          <pc:docMk/>
          <pc:sldMk cId="0" sldId="266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1:52.943" v="35"/>
        <pc:sldMkLst>
          <pc:docMk/>
          <pc:sldMk cId="0" sldId="267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2:11.505" v="37"/>
        <pc:sldMkLst>
          <pc:docMk/>
          <pc:sldMk cId="0" sldId="268"/>
        </pc:sldMkLst>
      </pc:sldChg>
      <pc:sldChg chg="mod modShow modNotes">
        <pc:chgData name="Gian Miguel Seijas" userId="S::gian.seijas@lernende.bbw.ch::72bd3707-9476-4e5d-bafe-f8c5b7e86c25" providerId="AD" clId="Web-{67A08A29-4476-6F0C-2424-319B0C43A7FC}" dt="2026-06-23T06:02:15.677" v="38"/>
        <pc:sldMkLst>
          <pc:docMk/>
          <pc:sldMk cId="0" sldId="269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2:23.490" v="43"/>
        <pc:sldMkLst>
          <pc:docMk/>
          <pc:sldMk cId="0" sldId="270"/>
        </pc:sldMkLst>
      </pc:sldChg>
      <pc:sldChg chg="modNotes">
        <pc:chgData name="Gian Miguel Seijas" userId="S::gian.seijas@lernende.bbw.ch::72bd3707-9476-4e5d-bafe-f8c5b7e86c25" providerId="AD" clId="Web-{67A08A29-4476-6F0C-2424-319B0C43A7FC}" dt="2026-06-23T06:02:28.786" v="46"/>
        <pc:sldMkLst>
          <pc:docMk/>
          <pc:sldMk cId="0" sldId="271"/>
        </pc:sldMkLst>
      </pc:sldChg>
    </pc:docChg>
  </pc:docChgLst>
  <pc:docChgLst>
    <pc:chgData name="Fiona Aline Brunner" userId="S::fiona.brunner@lernende.bbw.ch::98e7ca8b-1fe6-4d99-88d6-a8deb4794937" providerId="AD" clId="Web-{D6477889-EE1A-1A77-366B-567797C91554}"/>
    <pc:docChg chg="modSld sldOrd">
      <pc:chgData name="Fiona Aline Brunner" userId="S::fiona.brunner@lernende.bbw.ch::98e7ca8b-1fe6-4d99-88d6-a8deb4794937" providerId="AD" clId="Web-{D6477889-EE1A-1A77-366B-567797C91554}" dt="2026-06-23T07:04:30.502" v="6"/>
      <pc:docMkLst>
        <pc:docMk/>
      </pc:docMkLst>
      <pc:sldChg chg="modSp">
        <pc:chgData name="Fiona Aline Brunner" userId="S::fiona.brunner@lernende.bbw.ch::98e7ca8b-1fe6-4d99-88d6-a8deb4794937" providerId="AD" clId="Web-{D6477889-EE1A-1A77-366B-567797C91554}" dt="2026-06-23T06:50:15.151" v="5" actId="20577"/>
        <pc:sldMkLst>
          <pc:docMk/>
          <pc:sldMk cId="0" sldId="256"/>
        </pc:sldMkLst>
        <pc:spChg chg="mod">
          <ac:chgData name="Fiona Aline Brunner" userId="S::fiona.brunner@lernende.bbw.ch::98e7ca8b-1fe6-4d99-88d6-a8deb4794937" providerId="AD" clId="Web-{D6477889-EE1A-1A77-366B-567797C91554}" dt="2026-06-23T06:50:15.151" v="5" actId="20577"/>
          <ac:spMkLst>
            <pc:docMk/>
            <pc:sldMk cId="0" sldId="256"/>
            <ac:spMk id="10" creationId="{00000000-0000-0000-0000-000000000000}"/>
          </ac:spMkLst>
        </pc:spChg>
      </pc:sldChg>
      <pc:sldChg chg="ord">
        <pc:chgData name="Fiona Aline Brunner" userId="S::fiona.brunner@lernende.bbw.ch::98e7ca8b-1fe6-4d99-88d6-a8deb4794937" providerId="AD" clId="Web-{D6477889-EE1A-1A77-366B-567797C91554}" dt="2026-06-23T07:04:30.502" v="6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23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fiona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Gian</a:t>
            </a:r>
          </a:p>
          <a:p>
            <a:endParaRPr lang="en-US"/>
          </a:p>
          <a:p>
            <a:r>
              <a:rPr lang="en-US"/>
              <a:t>Hier sieht man, wie unsere Datenhaltung aufgebaut ist.</a:t>
            </a:r>
          </a:p>
          <a:p>
            <a:r>
              <a:rPr lang="en-US"/>
              <a:t>Obwohl wir mehrere Microservices haben, nutzen alle dasselbe Prisma-Schema im gemeinsamen packages/shared-Ordner. Dadurch arbeiten alle Services mit derselben Datenstruktur und Änderungen müssen nur einmal vorgenommen werden.</a:t>
            </a:r>
          </a:p>
          <a:p>
            <a:r>
              <a:rPr lang="en-US"/>
              <a:t>Als Datenbank verwenden wir MySQL 8 und Prisma übernimmt den Zugriff auf die Daten.</a:t>
            </a:r>
          </a:p>
          <a:p>
            <a:r>
              <a:rPr lang="en-US"/>
              <a:t>Die Migrationen werden ausschließlich vom Auth-Service ausgeführt. So stellen wir sicher, dass die Datenbank immer aktuell ist und keine Konflikte entstehen.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Fiona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Gian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/>
              <a:t>Zum </a:t>
            </a:r>
            <a:r>
              <a:rPr lang="en-US" err="1"/>
              <a:t>Schluss</a:t>
            </a:r>
            <a:r>
              <a:rPr lang="en-US"/>
              <a:t> </a:t>
            </a:r>
            <a:r>
              <a:rPr lang="en-US" err="1"/>
              <a:t>noch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kurzes</a:t>
            </a:r>
            <a:r>
              <a:rPr lang="en-US"/>
              <a:t> </a:t>
            </a:r>
            <a:r>
              <a:rPr lang="en-US" err="1"/>
              <a:t>Fazit</a:t>
            </a:r>
            <a:r>
              <a:rPr lang="en-US"/>
              <a:t>.</a:t>
            </a:r>
          </a:p>
          <a:p>
            <a:r>
              <a:rPr lang="en-US"/>
              <a:t>Unser Ziel war es, </a:t>
            </a:r>
            <a:r>
              <a:rPr lang="en-US" err="1"/>
              <a:t>eine</a:t>
            </a:r>
            <a:r>
              <a:rPr lang="en-US"/>
              <a:t> </a:t>
            </a:r>
            <a:r>
              <a:rPr lang="en-US" err="1"/>
              <a:t>zentrale</a:t>
            </a:r>
            <a:r>
              <a:rPr lang="en-US"/>
              <a:t> </a:t>
            </a:r>
            <a:r>
              <a:rPr lang="en-US" err="1"/>
              <a:t>Plattform</a:t>
            </a:r>
            <a:r>
              <a:rPr lang="en-US"/>
              <a:t> für </a:t>
            </a:r>
            <a:r>
              <a:rPr lang="en-US" err="1"/>
              <a:t>Musikvereine</a:t>
            </a:r>
            <a:r>
              <a:rPr lang="en-US"/>
              <a:t> </a:t>
            </a:r>
            <a:r>
              <a:rPr lang="en-US" err="1"/>
              <a:t>zu</a:t>
            </a:r>
            <a:r>
              <a:rPr lang="en-US"/>
              <a:t> </a:t>
            </a:r>
            <a:r>
              <a:rPr lang="en-US" err="1"/>
              <a:t>entwickeln</a:t>
            </a:r>
            <a:r>
              <a:rPr lang="en-US"/>
              <a:t>, die </a:t>
            </a:r>
            <a:r>
              <a:rPr lang="en-US" err="1"/>
              <a:t>Organisation</a:t>
            </a:r>
            <a:r>
              <a:rPr lang="en-US"/>
              <a:t>, Kommunikation und </a:t>
            </a:r>
            <a:r>
              <a:rPr lang="en-US" err="1"/>
              <a:t>Dateiverwaltung</a:t>
            </a:r>
            <a:r>
              <a:rPr lang="en-US"/>
              <a:t> an </a:t>
            </a:r>
            <a:r>
              <a:rPr lang="en-US" err="1"/>
              <a:t>einem</a:t>
            </a:r>
            <a:r>
              <a:rPr lang="en-US"/>
              <a:t> Ort </a:t>
            </a:r>
            <a:r>
              <a:rPr lang="en-US" err="1"/>
              <a:t>vereint</a:t>
            </a:r>
            <a:r>
              <a:rPr lang="en-US"/>
              <a:t>.</a:t>
            </a:r>
          </a:p>
          <a:p>
            <a:r>
              <a:rPr lang="en-US"/>
              <a:t>Durch die Microservices-</a:t>
            </a:r>
            <a:r>
              <a:rPr lang="en-US" err="1"/>
              <a:t>Architektur</a:t>
            </a:r>
            <a:r>
              <a:rPr lang="en-US"/>
              <a:t> </a:t>
            </a:r>
            <a:r>
              <a:rPr lang="en-US" err="1"/>
              <a:t>ist</a:t>
            </a:r>
            <a:r>
              <a:rPr lang="en-US"/>
              <a:t> die </a:t>
            </a:r>
            <a:r>
              <a:rPr lang="en-US" err="1"/>
              <a:t>Anwendung</a:t>
            </a:r>
            <a:r>
              <a:rPr lang="en-US"/>
              <a:t> </a:t>
            </a:r>
            <a:r>
              <a:rPr lang="en-US" err="1"/>
              <a:t>skalierbar</a:t>
            </a:r>
            <a:r>
              <a:rPr lang="en-US"/>
              <a:t> und gut für den </a:t>
            </a:r>
            <a:r>
              <a:rPr lang="en-US" err="1"/>
              <a:t>Einsatz</a:t>
            </a:r>
            <a:r>
              <a:rPr lang="en-US"/>
              <a:t> in der Cloud </a:t>
            </a:r>
            <a:r>
              <a:rPr lang="en-US" err="1"/>
              <a:t>geeignet</a:t>
            </a:r>
            <a:r>
              <a:rPr lang="en-US"/>
              <a:t>. Zusätzlich </a:t>
            </a:r>
            <a:r>
              <a:rPr lang="en-US" err="1"/>
              <a:t>bieten</a:t>
            </a:r>
            <a:r>
              <a:rPr lang="en-US"/>
              <a:t> die </a:t>
            </a:r>
            <a:r>
              <a:rPr lang="en-US" err="1"/>
              <a:t>integrierten</a:t>
            </a:r>
            <a:r>
              <a:rPr lang="en-US"/>
              <a:t> KI-</a:t>
            </a:r>
            <a:r>
              <a:rPr lang="en-US" err="1"/>
              <a:t>Funktionen</a:t>
            </a:r>
            <a:r>
              <a:rPr lang="en-US"/>
              <a:t>, </a:t>
            </a:r>
            <a:r>
              <a:rPr lang="en-US" err="1"/>
              <a:t>wie</a:t>
            </a:r>
            <a:r>
              <a:rPr lang="en-US"/>
              <a:t> </a:t>
            </a:r>
            <a:r>
              <a:rPr lang="en-US" err="1"/>
              <a:t>Transkriptionen</a:t>
            </a:r>
            <a:r>
              <a:rPr lang="en-US"/>
              <a:t> und Chat-</a:t>
            </a:r>
            <a:r>
              <a:rPr lang="en-US" err="1"/>
              <a:t>Zusammenfassungen</a:t>
            </a:r>
            <a:r>
              <a:rPr lang="en-US"/>
              <a:t>, </a:t>
            </a:r>
            <a:r>
              <a:rPr lang="en-US" err="1"/>
              <a:t>einen</a:t>
            </a:r>
            <a:r>
              <a:rPr lang="en-US"/>
              <a:t> </a:t>
            </a:r>
            <a:r>
              <a:rPr lang="en-US" err="1"/>
              <a:t>echten</a:t>
            </a:r>
            <a:r>
              <a:rPr lang="en-US"/>
              <a:t> Mehrwert.</a:t>
            </a:r>
          </a:p>
          <a:p>
            <a:r>
              <a:rPr lang="en-US"/>
              <a:t>In Zukunft </a:t>
            </a:r>
            <a:r>
              <a:rPr lang="en-US" err="1"/>
              <a:t>möchten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die App </a:t>
            </a:r>
            <a:r>
              <a:rPr lang="en-US" err="1"/>
              <a:t>noch</a:t>
            </a:r>
            <a:r>
              <a:rPr lang="en-US"/>
              <a:t> </a:t>
            </a:r>
            <a:r>
              <a:rPr lang="en-US" err="1"/>
              <a:t>erweitern</a:t>
            </a:r>
            <a:r>
              <a:rPr lang="en-US"/>
              <a:t> – </a:t>
            </a:r>
            <a:r>
              <a:rPr lang="en-US" err="1"/>
              <a:t>zum</a:t>
            </a:r>
            <a:r>
              <a:rPr lang="en-US"/>
              <a:t> </a:t>
            </a:r>
            <a:r>
              <a:rPr lang="en-US" err="1"/>
              <a:t>Beispiel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automatischen</a:t>
            </a:r>
            <a:r>
              <a:rPr lang="en-US"/>
              <a:t> Setlist-</a:t>
            </a:r>
            <a:r>
              <a:rPr lang="en-US" err="1"/>
              <a:t>Vorschlägen</a:t>
            </a:r>
            <a:r>
              <a:rPr lang="en-US"/>
              <a:t>, Push-</a:t>
            </a:r>
            <a:r>
              <a:rPr lang="en-US" err="1"/>
              <a:t>Benachrichtigungen</a:t>
            </a:r>
            <a:r>
              <a:rPr lang="en-US"/>
              <a:t> und </a:t>
            </a:r>
            <a:r>
              <a:rPr lang="en-US" err="1"/>
              <a:t>einer</a:t>
            </a:r>
            <a:r>
              <a:rPr lang="en-US"/>
              <a:t> </a:t>
            </a:r>
            <a:r>
              <a:rPr lang="en-US" err="1"/>
              <a:t>Veröffentlichung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mobile App.</a:t>
            </a:r>
          </a:p>
          <a:p>
            <a:r>
              <a:rPr lang="en-US" err="1"/>
              <a:t>Insgesamt</a:t>
            </a:r>
            <a:r>
              <a:rPr lang="en-US"/>
              <a:t> </a:t>
            </a:r>
            <a:r>
              <a:rPr lang="en-US" err="1"/>
              <a:t>zeigt</a:t>
            </a:r>
            <a:r>
              <a:rPr lang="en-US"/>
              <a:t> </a:t>
            </a:r>
            <a:r>
              <a:rPr lang="en-US" err="1"/>
              <a:t>unser</a:t>
            </a:r>
            <a:r>
              <a:rPr lang="en-US"/>
              <a:t> Projekt, </a:t>
            </a:r>
            <a:r>
              <a:rPr lang="en-US" err="1"/>
              <a:t>wie</a:t>
            </a:r>
            <a:r>
              <a:rPr lang="en-US"/>
              <a:t> </a:t>
            </a:r>
            <a:r>
              <a:rPr lang="en-US" err="1"/>
              <a:t>sich</a:t>
            </a:r>
            <a:r>
              <a:rPr lang="en-US"/>
              <a:t> </a:t>
            </a:r>
            <a:r>
              <a:rPr lang="en-US" err="1"/>
              <a:t>moderne</a:t>
            </a:r>
            <a:r>
              <a:rPr lang="en-US"/>
              <a:t> </a:t>
            </a:r>
            <a:r>
              <a:rPr lang="en-US" err="1"/>
              <a:t>Webtechnologien</a:t>
            </a:r>
            <a:r>
              <a:rPr lang="en-US"/>
              <a:t>, Cloud-Deployment und KI </a:t>
            </a:r>
            <a:r>
              <a:rPr lang="en-US" err="1"/>
              <a:t>sinnvoll</a:t>
            </a:r>
            <a:r>
              <a:rPr lang="en-US"/>
              <a:t> </a:t>
            </a:r>
            <a:r>
              <a:rPr lang="en-US" err="1"/>
              <a:t>miteinander</a:t>
            </a:r>
            <a:r>
              <a:rPr lang="en-US"/>
              <a:t> </a:t>
            </a:r>
            <a:r>
              <a:rPr lang="en-US" err="1"/>
              <a:t>kombinieren</a:t>
            </a:r>
            <a:r>
              <a:rPr lang="en-US"/>
              <a:t> </a:t>
            </a:r>
            <a:r>
              <a:rPr lang="en-US" err="1"/>
              <a:t>lassen</a:t>
            </a:r>
            <a:r>
              <a:rPr lang="en-US"/>
              <a:t>. </a:t>
            </a:r>
            <a:r>
              <a:rPr lang="en-US" err="1"/>
              <a:t>Vielen</a:t>
            </a:r>
            <a:r>
              <a:rPr lang="en-US"/>
              <a:t> Dank für </a:t>
            </a:r>
            <a:r>
              <a:rPr lang="en-US" err="1"/>
              <a:t>eure</a:t>
            </a:r>
            <a:r>
              <a:rPr lang="en-US"/>
              <a:t> </a:t>
            </a:r>
            <a:r>
              <a:rPr lang="en-US" err="1"/>
              <a:t>Aufmerksamkeit</a:t>
            </a:r>
          </a:p>
          <a:p>
            <a:endParaRPr lang="en-US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Fiona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resolution_abstract_tech_music_them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Music Management App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6858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>
                <a:solidFill>
                  <a:srgbClr val="B5C6D8"/>
                </a:solidFill>
              </a:rPr>
              <a:t>Skalierbare Microservices-Plattform für Musikvereine und Bands</a:t>
            </a:r>
            <a:endParaRPr lang="en-US" sz="1700"/>
          </a:p>
        </p:txBody>
      </p:sp>
      <p:sp>
        <p:nvSpPr>
          <p:cNvPr id="7" name="Shape 4"/>
          <p:cNvSpPr/>
          <p:nvPr/>
        </p:nvSpPr>
        <p:spPr>
          <a:xfrm>
            <a:off x="685800" y="2423160"/>
            <a:ext cx="4434840" cy="347472"/>
          </a:xfrm>
          <a:prstGeom prst="roundRect">
            <a:avLst>
              <a:gd name="adj" fmla="val 21053"/>
            </a:avLst>
          </a:prstGeom>
          <a:solidFill>
            <a:srgbClr val="32D5FF">
              <a:alpha val="14000"/>
            </a:srgbClr>
          </a:solidFill>
          <a:ln w="10160">
            <a:solidFill>
              <a:srgbClr val="32D5FF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795528" y="2505456"/>
            <a:ext cx="4215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>
                <a:solidFill>
                  <a:srgbClr val="F5F7FB"/>
                </a:solidFill>
              </a:rPr>
              <a:t>React • Node.js • Prisma • Docker • Google Cloud</a:t>
            </a:r>
            <a:endParaRPr lang="en-US" sz="820"/>
          </a:p>
        </p:txBody>
      </p:sp>
      <p:sp>
        <p:nvSpPr>
          <p:cNvPr id="9" name="Text 6"/>
          <p:cNvSpPr/>
          <p:nvPr/>
        </p:nvSpPr>
        <p:spPr>
          <a:xfrm>
            <a:off x="68580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32D5FF"/>
                </a:solidFill>
              </a:rPr>
              <a:t>Team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68580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>
                <a:solidFill>
                  <a:srgbClr val="F5F7FB"/>
                </a:solidFill>
              </a:rPr>
              <a:t>Gian Seijas,</a:t>
            </a:r>
            <a:r>
              <a:rPr lang="en-US" sz="1350"/>
              <a:t> </a:t>
            </a:r>
            <a:r>
              <a:rPr lang="en-US" sz="1350">
                <a:solidFill>
                  <a:srgbClr val="F5F7FB"/>
                </a:solidFill>
              </a:rPr>
              <a:t>Jan Bretscher, Fiona Brunner, Cian </a:t>
            </a:r>
            <a:r>
              <a:rPr lang="en-US" sz="1350" err="1">
                <a:solidFill>
                  <a:srgbClr val="F5F7FB"/>
                </a:solidFill>
              </a:rPr>
              <a:t>Tschuor</a:t>
            </a:r>
            <a:endParaRPr lang="en-US" sz="1350" err="1"/>
          </a:p>
        </p:txBody>
      </p:sp>
      <p:sp>
        <p:nvSpPr>
          <p:cNvPr id="11" name="Text 8"/>
          <p:cNvSpPr/>
          <p:nvPr/>
        </p:nvSpPr>
        <p:spPr>
          <a:xfrm>
            <a:off x="685800" y="5806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B5C6D8"/>
                </a:solidFill>
              </a:rPr>
              <a:t>Fach / Betreuer: Herr Cavuoti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B5C6D8"/>
                </a:solidFill>
              </a:rPr>
              <a:t>Datum: Juni 2026</a:t>
            </a:r>
            <a:endParaRPr lang="en-US" sz="1050"/>
          </a:p>
        </p:txBody>
      </p:sp>
      <p:sp>
        <p:nvSpPr>
          <p:cNvPr id="15" name="Text 10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16" name="Text 11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01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ÜBERBLICK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2000874" y="3230741"/>
            <a:ext cx="457200" cy="457200"/>
          </a:xfrm>
          <a:prstGeom prst="ellipse">
            <a:avLst/>
          </a:prstGeom>
          <a:solidFill>
            <a:srgbClr val="32D5FF"/>
          </a:solidFill>
          <a:ln w="889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 sz="4000"/>
          </a:p>
        </p:txBody>
      </p:sp>
      <p:sp>
        <p:nvSpPr>
          <p:cNvPr id="8" name="Text 6"/>
          <p:cNvSpPr/>
          <p:nvPr/>
        </p:nvSpPr>
        <p:spPr>
          <a:xfrm>
            <a:off x="2000874" y="3358757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7111F"/>
                </a:solidFill>
              </a:rPr>
              <a:t>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2659242" y="329474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D5A88"/>
                </a:solidFill>
              </a:rPr>
              <a:t>→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1401298" y="2197469"/>
            <a:ext cx="16785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F5F7FB"/>
                </a:solidFill>
              </a:rPr>
              <a:t>Problemstellung &amp; Idee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3418194" y="3230741"/>
            <a:ext cx="457200" cy="457200"/>
          </a:xfrm>
          <a:prstGeom prst="ellipse">
            <a:avLst/>
          </a:prstGeom>
          <a:solidFill>
            <a:srgbClr val="9F7CFF"/>
          </a:solidFill>
          <a:ln w="889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 sz="4000"/>
          </a:p>
        </p:txBody>
      </p:sp>
      <p:sp>
        <p:nvSpPr>
          <p:cNvPr id="12" name="Text 10"/>
          <p:cNvSpPr/>
          <p:nvPr/>
        </p:nvSpPr>
        <p:spPr>
          <a:xfrm>
            <a:off x="3418194" y="3358757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7111F"/>
                </a:solidFill>
              </a:rPr>
              <a:t>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076562" y="329474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D5A88"/>
                </a:solidFill>
              </a:rPr>
              <a:t>→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3235314" y="3870821"/>
            <a:ext cx="960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F5F7FB"/>
                </a:solidFill>
              </a:rPr>
              <a:t>Features der App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835514" y="3230741"/>
            <a:ext cx="457200" cy="457200"/>
          </a:xfrm>
          <a:prstGeom prst="ellipse">
            <a:avLst/>
          </a:prstGeom>
          <a:solidFill>
            <a:srgbClr val="32D5FF"/>
          </a:solidFill>
          <a:ln w="889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 sz="4000"/>
          </a:p>
        </p:txBody>
      </p:sp>
      <p:sp>
        <p:nvSpPr>
          <p:cNvPr id="16" name="Text 14"/>
          <p:cNvSpPr/>
          <p:nvPr/>
        </p:nvSpPr>
        <p:spPr>
          <a:xfrm>
            <a:off x="4835514" y="3358757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7111F"/>
                </a:solidFill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493882" y="329474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D5A88"/>
                </a:solidFill>
              </a:rPr>
              <a:t>→</a:t>
            </a:r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4454657" y="2197469"/>
            <a:ext cx="121891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F5F7FB"/>
                </a:solidFill>
              </a:rPr>
              <a:t>Architektur &amp; Services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252834" y="3230741"/>
            <a:ext cx="457200" cy="457200"/>
          </a:xfrm>
          <a:prstGeom prst="ellipse">
            <a:avLst/>
          </a:prstGeom>
          <a:solidFill>
            <a:srgbClr val="9F7CFF"/>
          </a:solidFill>
          <a:ln w="889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 sz="4000"/>
          </a:p>
        </p:txBody>
      </p:sp>
      <p:sp>
        <p:nvSpPr>
          <p:cNvPr id="20" name="Text 18"/>
          <p:cNvSpPr/>
          <p:nvPr/>
        </p:nvSpPr>
        <p:spPr>
          <a:xfrm>
            <a:off x="6252834" y="3358757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7111F"/>
                </a:solidFill>
              </a:rPr>
              <a:t>4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911202" y="329474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D5A88"/>
                </a:solidFill>
              </a:rPr>
              <a:t>→</a:t>
            </a:r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5704194" y="3870821"/>
            <a:ext cx="17830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F5F7FB"/>
                </a:solidFill>
              </a:rPr>
              <a:t>Technologie-Stack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7670154" y="3230741"/>
            <a:ext cx="457200" cy="457200"/>
          </a:xfrm>
          <a:prstGeom prst="ellipse">
            <a:avLst/>
          </a:prstGeom>
          <a:solidFill>
            <a:srgbClr val="32D5FF"/>
          </a:solidFill>
          <a:ln w="889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 sz="4000"/>
          </a:p>
        </p:txBody>
      </p:sp>
      <p:sp>
        <p:nvSpPr>
          <p:cNvPr id="24" name="Text 22"/>
          <p:cNvSpPr/>
          <p:nvPr/>
        </p:nvSpPr>
        <p:spPr>
          <a:xfrm>
            <a:off x="7670154" y="3358757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7111F"/>
                </a:solidFill>
              </a:rPr>
              <a:t>5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8328522" y="329474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D5A88"/>
                </a:solidFill>
              </a:rPr>
              <a:t>→</a:t>
            </a:r>
            <a:endParaRPr lang="en-US" sz="3200"/>
          </a:p>
        </p:txBody>
      </p:sp>
      <p:sp>
        <p:nvSpPr>
          <p:cNvPr id="27" name="Shape 25"/>
          <p:cNvSpPr/>
          <p:nvPr/>
        </p:nvSpPr>
        <p:spPr>
          <a:xfrm>
            <a:off x="9087474" y="3230741"/>
            <a:ext cx="457200" cy="457200"/>
          </a:xfrm>
          <a:prstGeom prst="ellipse">
            <a:avLst/>
          </a:prstGeom>
          <a:solidFill>
            <a:srgbClr val="9F7CFF"/>
          </a:solidFill>
          <a:ln w="889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 sz="4000"/>
          </a:p>
        </p:txBody>
      </p:sp>
      <p:sp>
        <p:nvSpPr>
          <p:cNvPr id="28" name="Text 26"/>
          <p:cNvSpPr/>
          <p:nvPr/>
        </p:nvSpPr>
        <p:spPr>
          <a:xfrm>
            <a:off x="9087474" y="3358757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7111F"/>
                </a:solidFill>
              </a:rPr>
              <a:t>6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9745842" y="329474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7335151" y="2203288"/>
            <a:ext cx="1417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F5F7FB"/>
                </a:solidFill>
              </a:rPr>
              <a:t>Datenbank &amp; Kommunikation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8712159" y="3910723"/>
            <a:ext cx="1353723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600" err="1">
                <a:solidFill>
                  <a:srgbClr val="F5F7FB"/>
                </a:solidFill>
              </a:rPr>
              <a:t>Herausforderungen</a:t>
            </a:r>
            <a:r>
              <a:rPr lang="en-US" sz="1600">
                <a:solidFill>
                  <a:srgbClr val="F5F7FB"/>
                </a:solidFill>
              </a:rPr>
              <a:t>, </a:t>
            </a:r>
            <a:r>
              <a:rPr lang="en-US" sz="1600" err="1">
                <a:solidFill>
                  <a:srgbClr val="F5F7FB"/>
                </a:solidFill>
              </a:rPr>
              <a:t>Fazit</a:t>
            </a:r>
            <a:r>
              <a:rPr lang="en-US" sz="1600">
                <a:solidFill>
                  <a:srgbClr val="F5F7FB"/>
                </a:solidFill>
              </a:rPr>
              <a:t> &amp; </a:t>
            </a:r>
            <a:r>
              <a:rPr lang="en-US" sz="1600" err="1">
                <a:solidFill>
                  <a:srgbClr val="F5F7FB"/>
                </a:solidFill>
              </a:rPr>
              <a:t>Ausblick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9988040" y="3886200"/>
            <a:ext cx="17952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41" name="Text 38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42" name="Text 39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02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DIE APP?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Problemstellung &amp; Idee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B"/>
                </a:solidFill>
              </a:rPr>
              <a:t>Heute oft verteilt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72B43">
              <a:alpha val="92000"/>
            </a:srgbClr>
          </a:solidFill>
          <a:ln w="12700">
            <a:solidFill>
              <a:srgbClr val="2D5A8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033272" y="2386584"/>
            <a:ext cx="11795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Termine gehen unter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2697480" y="2715768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F2148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2862072" y="2862072"/>
            <a:ext cx="11795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keine Live-Übersicht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4526280" y="224028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72B43">
              <a:alpha val="92000"/>
            </a:srgbClr>
          </a:solidFill>
          <a:ln w="12700">
            <a:solidFill>
              <a:srgbClr val="2D5A8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4690872" y="2386584"/>
            <a:ext cx="11795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Zettel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Noten verstreut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6245352" y="25420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2D5FF"/>
                </a:solidFill>
              </a:rPr>
              <a:t>→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71780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B"/>
                </a:solidFill>
              </a:rPr>
              <a:t>Idee</a:t>
            </a:r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6949440" y="2148840"/>
            <a:ext cx="4297680" cy="1783080"/>
          </a:xfrm>
          <a:prstGeom prst="roundRect">
            <a:avLst>
              <a:gd name="adj" fmla="val 5128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7114032" y="2295144"/>
            <a:ext cx="396849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zentrale Plattform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Termine, Noten, Setlists, Chat und Mitglieder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995160" y="42519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>
                <a:solidFill>
                  <a:srgbClr val="B5C6D8"/>
                </a:solidFill>
              </a:rPr>
              <a:t>Nutzen: weniger Chaos, bessere Planung, Zu- und Absagen.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21" name="Text 18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03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kann die App?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754880" y="2807209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965192" y="2935225"/>
            <a:ext cx="19110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Management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896112" y="1883664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Termine</a:t>
            </a:r>
            <a:endParaRPr lang="en-US" sz="1320"/>
          </a:p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Proben, Auftritte, iCal, Zu-/Absagen</a:t>
            </a:r>
            <a:endParaRPr lang="en-US" sz="132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22448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005072" y="1517904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Noten &amp; Dateien</a:t>
            </a:r>
            <a:endParaRPr lang="en-US" sz="1320"/>
          </a:p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Uploads, Ordner, PDF-Viewer</a:t>
            </a:r>
            <a:endParaRPr lang="en-US" sz="1320"/>
          </a:p>
        </p:txBody>
      </p:sp>
      <p:sp>
        <p:nvSpPr>
          <p:cNvPr id="13" name="Shape 11"/>
          <p:cNvSpPr/>
          <p:nvPr/>
        </p:nvSpPr>
        <p:spPr>
          <a:xfrm>
            <a:off x="7406640" y="17373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7571232" y="1883664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Setlists</a:t>
            </a:r>
            <a:endParaRPr lang="en-US" sz="1320"/>
          </a:p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für Auftritte planen</a:t>
            </a:r>
            <a:endParaRPr lang="en-US" sz="132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22448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896112" y="4306824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err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Persönliche</a:t>
            </a: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320" b="1" err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</a:t>
            </a: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20" b="1" err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auch</a:t>
            </a:r>
            <a:endParaRPr lang="en-US" sz="1320"/>
          </a:p>
          <a:p>
            <a:pPr marL="0" indent="0" algn="ctr">
              <a:buNone/>
            </a:pPr>
            <a:r>
              <a:rPr lang="en-US" sz="1320" b="1" err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Gruppenchats</a:t>
            </a:r>
            <a:endParaRPr lang="en-US" sz="1320"/>
          </a:p>
        </p:txBody>
      </p:sp>
      <p:sp>
        <p:nvSpPr>
          <p:cNvPr id="17" name="Shape 15"/>
          <p:cNvSpPr/>
          <p:nvPr/>
        </p:nvSpPr>
        <p:spPr>
          <a:xfrm>
            <a:off x="3840480" y="457200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005072" y="4718304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Benutzer &amp; Rechte</a:t>
            </a:r>
            <a:endParaRPr lang="en-US" sz="1320"/>
          </a:p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Rollen, Berechtigungen</a:t>
            </a:r>
            <a:endParaRPr lang="en-US" sz="1320"/>
          </a:p>
        </p:txBody>
      </p:sp>
      <p:sp>
        <p:nvSpPr>
          <p:cNvPr id="19" name="Shape 17"/>
          <p:cNvSpPr/>
          <p:nvPr/>
        </p:nvSpPr>
        <p:spPr>
          <a:xfrm>
            <a:off x="7406640" y="416052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22448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7571232" y="4306824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</a:t>
            </a:r>
            <a:endParaRPr lang="en-US" sz="1320"/>
          </a:p>
          <a:p>
            <a:pPr marL="0" indent="0" algn="ctr">
              <a:buNone/>
            </a:pPr>
            <a:r>
              <a:rPr lang="en-US" sz="1320" b="1">
                <a:solidFill>
                  <a:srgbClr val="F5F7FB"/>
                </a:solidFill>
                <a:latin typeface="Aptos" pitchFamily="34" charset="0"/>
              </a:rPr>
              <a:t>Version</a:t>
            </a:r>
            <a:endParaRPr lang="en-US" sz="1320"/>
          </a:p>
        </p:txBody>
      </p:sp>
      <p:sp>
        <p:nvSpPr>
          <p:cNvPr id="22" name="Text 19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23" name="Text 20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04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MICROSERVICES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Architektur-Überblick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B5C6D8"/>
                </a:solidFill>
              </a:rPr>
              <a:t>Früher: Monolith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2B1B2C">
              <a:alpha val="92000"/>
            </a:srgbClr>
          </a:solidFill>
          <a:ln w="12700">
            <a:solidFill>
              <a:srgbClr val="FF7A7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033272" y="2295144"/>
            <a:ext cx="20482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grosse Anwendung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alles zusammen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566160" y="2651760"/>
            <a:ext cx="1097280" cy="0"/>
          </a:xfrm>
          <a:prstGeom prst="line">
            <a:avLst/>
          </a:prstGeom>
          <a:noFill/>
          <a:ln w="25400">
            <a:solidFill>
              <a:srgbClr val="32D5FF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5F7FB"/>
                </a:solidFill>
              </a:rPr>
              <a:t>Aktuell: Microservices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6144768" y="26060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↓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144768" y="361188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↓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144768" y="46634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↓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74920" y="20574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239512" y="2203704"/>
            <a:ext cx="20482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5074920" y="297180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0223C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239512" y="3118104"/>
            <a:ext cx="20482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3794760" y="388620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3959352" y="4032504"/>
            <a:ext cx="768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3001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5074920" y="388620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239512" y="4032504"/>
            <a:ext cx="768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3002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355080" y="388620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6519672" y="4032504"/>
            <a:ext cx="768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3003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7635240" y="388620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7799832" y="4032504"/>
            <a:ext cx="768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Socket.IO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572000" y="498348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18263E">
              <a:alpha val="92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4736592" y="5129784"/>
            <a:ext cx="14538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+ Prisma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6629400" y="498348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18263E">
              <a:alpha val="92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6793992" y="5129784"/>
            <a:ext cx="14538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 / Ollama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8778240" y="2240280"/>
            <a:ext cx="2423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>
                <a:solidFill>
                  <a:srgbClr val="B5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Unabhängig skalierbar</a:t>
            </a:r>
            <a:endParaRPr lang="en-US" sz="1320"/>
          </a:p>
          <a:p>
            <a:r>
              <a:rPr lang="en-US" sz="1320">
                <a:solidFill>
                  <a:srgbClr val="B5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Wartbarer Code</a:t>
            </a:r>
            <a:endParaRPr lang="en-US" sz="1320"/>
          </a:p>
          <a:p>
            <a:r>
              <a:rPr lang="en-US" sz="1320">
                <a:solidFill>
                  <a:srgbClr val="B5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Ausfallsicherer als ein einzelner Block</a:t>
            </a:r>
            <a:endParaRPr lang="en-US" sz="1320"/>
          </a:p>
        </p:txBody>
      </p:sp>
      <p:sp>
        <p:nvSpPr>
          <p:cNvPr id="34" name="Text 30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35" name="Text 31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05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WERKZEUGE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Technologie-Stack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Frontend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85800" y="2039112"/>
            <a:ext cx="2148840" cy="0"/>
          </a:xfrm>
          <a:prstGeom prst="line">
            <a:avLst/>
          </a:prstGeom>
          <a:noFill/>
          <a:ln w="20320">
            <a:solidFill>
              <a:srgbClr val="32D5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React, Vite, TypeScript</a:t>
            </a:r>
            <a:endParaRPr lang="en-US" sz="1350"/>
          </a:p>
          <a:p>
            <a:pPr marL="0" indent="0">
              <a:buNone/>
            </a:pPr>
            <a:r>
              <a:rPr lang="en-US" sz="1350" err="1">
                <a:solidFill>
                  <a:srgbClr val="F5F7FB"/>
                </a:solidFill>
              </a:rPr>
              <a:t>TailwindCSS</a:t>
            </a:r>
            <a:endParaRPr lang="en-US" sz="1350">
              <a:solidFill>
                <a:srgbClr val="F5F7F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52044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BFF77"/>
                </a:solidFill>
              </a:rPr>
              <a:t>Backend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3520440" y="2039112"/>
            <a:ext cx="2148840" cy="0"/>
          </a:xfrm>
          <a:prstGeom prst="line">
            <a:avLst/>
          </a:prstGeom>
          <a:noFill/>
          <a:ln w="20320">
            <a:solidFill>
              <a:srgbClr val="9BFF7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520440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Node.js, Express, JWT, bcrypt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Daten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6355080" y="2039112"/>
            <a:ext cx="2148840" cy="0"/>
          </a:xfrm>
          <a:prstGeom prst="line">
            <a:avLst/>
          </a:prstGeom>
          <a:noFill/>
          <a:ln w="20320">
            <a:solidFill>
              <a:srgbClr val="32D5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355080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MySQL 8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Prisma ORM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918972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BFF77"/>
                </a:solidFill>
              </a:rPr>
              <a:t>Realtime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189720" y="2039112"/>
            <a:ext cx="2148840" cy="0"/>
          </a:xfrm>
          <a:prstGeom prst="line">
            <a:avLst/>
          </a:prstGeom>
          <a:noFill/>
          <a:ln w="20320">
            <a:solidFill>
              <a:srgbClr val="9BFF7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9189720" y="225856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Socket.IO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Websocket-Bridge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Mobile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85800" y="4050792"/>
            <a:ext cx="2148840" cy="0"/>
          </a:xfrm>
          <a:prstGeom prst="line">
            <a:avLst/>
          </a:prstGeom>
          <a:noFill/>
          <a:ln w="20320">
            <a:solidFill>
              <a:srgbClr val="32D5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85800" y="427024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Capacitor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Android &amp; iOS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3520440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BFF77"/>
                </a:solidFill>
              </a:rPr>
              <a:t>Infrastruktur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3520440" y="4050792"/>
            <a:ext cx="2148840" cy="0"/>
          </a:xfrm>
          <a:prstGeom prst="line">
            <a:avLst/>
          </a:prstGeom>
          <a:noFill/>
          <a:ln w="20320">
            <a:solidFill>
              <a:srgbClr val="9BFF7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3520440" y="427024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Docker, Docker Compose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Nginx</a:t>
            </a:r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6355080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2D5FF"/>
                </a:solidFill>
              </a:rPr>
              <a:t>KI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6355080" y="4050792"/>
            <a:ext cx="2148840" cy="0"/>
          </a:xfrm>
          <a:prstGeom prst="line">
            <a:avLst/>
          </a:prstGeom>
          <a:noFill/>
          <a:ln w="20320">
            <a:solidFill>
              <a:srgbClr val="32D5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6355080" y="4270248"/>
            <a:ext cx="2286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Whisper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F5F7FB"/>
                </a:solidFill>
              </a:rPr>
              <a:t>Ollama</a:t>
            </a:r>
            <a:endParaRPr lang="en-US" sz="1350"/>
          </a:p>
        </p:txBody>
      </p:sp>
      <p:sp>
        <p:nvSpPr>
          <p:cNvPr id="31" name="Shape 29"/>
          <p:cNvSpPr/>
          <p:nvPr/>
        </p:nvSpPr>
        <p:spPr>
          <a:xfrm>
            <a:off x="1097280" y="5806440"/>
            <a:ext cx="9875520" cy="502920"/>
          </a:xfrm>
          <a:prstGeom prst="roundRect">
            <a:avLst>
              <a:gd name="adj" fmla="val 18182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1261872" y="5952744"/>
            <a:ext cx="954633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8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Highlights: React für die Oberfläche, Node/Express für Services, Prisma für sauberen DB-Zugriff und Docker für reproduzierbares Setup.</a:t>
            </a:r>
            <a:endParaRPr lang="en-US" sz="1380"/>
          </a:p>
        </p:txBody>
      </p:sp>
      <p:sp>
        <p:nvSpPr>
          <p:cNvPr id="34" name="Text 31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35" name="Text 32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06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AUFTEILUNG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Die Services im Detail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2651760" y="1801368"/>
            <a:ext cx="822960" cy="0"/>
          </a:xfrm>
          <a:prstGeom prst="line">
            <a:avLst/>
          </a:prstGeom>
          <a:noFill/>
          <a:ln w="15240">
            <a:solidFill>
              <a:srgbClr val="2D5A88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896112" y="1700784"/>
            <a:ext cx="14996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Service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3657600" y="16276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>
                <a:solidFill>
                  <a:srgbClr val="B5C6D8"/>
                </a:solidFill>
              </a:rPr>
              <a:t>Login, </a:t>
            </a:r>
            <a:r>
              <a:rPr lang="en-US" sz="1330" err="1">
                <a:solidFill>
                  <a:srgbClr val="B5C6D8"/>
                </a:solidFill>
              </a:rPr>
              <a:t>Registrierung</a:t>
            </a:r>
            <a:r>
              <a:rPr lang="en-US" sz="1330">
                <a:solidFill>
                  <a:srgbClr val="B5C6D8"/>
                </a:solidFill>
              </a:rPr>
              <a:t>, User-Management, Settings. </a:t>
            </a:r>
            <a:r>
              <a:rPr lang="en-US" sz="1330" err="1">
                <a:solidFill>
                  <a:srgbClr val="B5C6D8"/>
                </a:solidFill>
              </a:rPr>
              <a:t>Führt</a:t>
            </a:r>
            <a:r>
              <a:rPr lang="en-US" sz="1330">
                <a:solidFill>
                  <a:srgbClr val="B5C6D8"/>
                </a:solidFill>
              </a:rPr>
              <a:t> die DB-</a:t>
            </a:r>
            <a:r>
              <a:rPr lang="en-US" sz="1330" err="1">
                <a:solidFill>
                  <a:srgbClr val="B5C6D8"/>
                </a:solidFill>
              </a:rPr>
              <a:t>Migrationen</a:t>
            </a:r>
            <a:r>
              <a:rPr lang="en-US" sz="1330">
                <a:solidFill>
                  <a:srgbClr val="B5C6D8"/>
                </a:solidFill>
              </a:rPr>
              <a:t> </a:t>
            </a:r>
            <a:r>
              <a:rPr lang="en-US" sz="1330" err="1">
                <a:solidFill>
                  <a:srgbClr val="B5C6D8"/>
                </a:solidFill>
              </a:rPr>
              <a:t>aus.</a:t>
            </a:r>
            <a:endParaRPr lang="en-US" sz="1330"/>
          </a:p>
        </p:txBody>
      </p:sp>
      <p:sp>
        <p:nvSpPr>
          <p:cNvPr id="11" name="Shape 9"/>
          <p:cNvSpPr/>
          <p:nvPr/>
        </p:nvSpPr>
        <p:spPr>
          <a:xfrm>
            <a:off x="2651760" y="2715768"/>
            <a:ext cx="822960" cy="0"/>
          </a:xfrm>
          <a:prstGeom prst="line">
            <a:avLst/>
          </a:prstGeom>
          <a:noFill/>
          <a:ln w="15240">
            <a:solidFill>
              <a:srgbClr val="2D5A88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896112" y="2615184"/>
            <a:ext cx="14996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Service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3657600" y="2542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>
                <a:solidFill>
                  <a:srgbClr val="B5C6D8"/>
                </a:solidFill>
              </a:rPr>
              <a:t>Termine, Kalender-Feeds, Polling</a:t>
            </a:r>
            <a:endParaRPr lang="en-US" sz="1330"/>
          </a:p>
        </p:txBody>
      </p:sp>
      <p:sp>
        <p:nvSpPr>
          <p:cNvPr id="15" name="Shape 13"/>
          <p:cNvSpPr/>
          <p:nvPr/>
        </p:nvSpPr>
        <p:spPr>
          <a:xfrm>
            <a:off x="2651760" y="3630168"/>
            <a:ext cx="822960" cy="0"/>
          </a:xfrm>
          <a:prstGeom prst="line">
            <a:avLst/>
          </a:prstGeom>
          <a:noFill/>
          <a:ln w="15240">
            <a:solidFill>
              <a:srgbClr val="2D5A88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896112" y="3529584"/>
            <a:ext cx="14996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Service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3657600" y="34564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>
                <a:solidFill>
                  <a:srgbClr val="B5C6D8"/>
                </a:solidFill>
              </a:rPr>
              <a:t>Uploads, Noten, Setlists und OnlyOffice-Anbindung.</a:t>
            </a:r>
            <a:endParaRPr lang="en-US" sz="1330"/>
          </a:p>
        </p:txBody>
      </p:sp>
      <p:sp>
        <p:nvSpPr>
          <p:cNvPr id="19" name="Shape 17"/>
          <p:cNvSpPr/>
          <p:nvPr/>
        </p:nvSpPr>
        <p:spPr>
          <a:xfrm>
            <a:off x="2651760" y="4544568"/>
            <a:ext cx="822960" cy="0"/>
          </a:xfrm>
          <a:prstGeom prst="line">
            <a:avLst/>
          </a:prstGeom>
          <a:noFill/>
          <a:ln w="15240">
            <a:solidFill>
              <a:srgbClr val="2D5A88"/>
            </a:solidFill>
            <a:prstDash val="solid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896112" y="4443984"/>
            <a:ext cx="14996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Service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3657600" y="43708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>
                <a:solidFill>
                  <a:srgbClr val="B5C6D8"/>
                </a:solidFill>
              </a:rPr>
              <a:t>Socket.IO-Server für Echtzeit-Chat und KI-Anbindung.</a:t>
            </a:r>
            <a:endParaRPr lang="en-US" sz="1330"/>
          </a:p>
        </p:txBody>
      </p:sp>
      <p:sp>
        <p:nvSpPr>
          <p:cNvPr id="29" name="Text 25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30" name="Text 26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07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+ PRISMA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Datenbank &amp; gemeinsames Schema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703320" y="210312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867912" y="2249424"/>
            <a:ext cx="42428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packages/shared/prisma/schema.prisma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34340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B5C6D8"/>
                </a:solidFill>
              </a:rPr>
              <a:t>gemeinsam genutzt von allen Services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097280" y="1645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1261872" y="1792224"/>
            <a:ext cx="11338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1645920" y="41148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1810512" y="4261104"/>
            <a:ext cx="11338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9125712" y="1792224"/>
            <a:ext cx="11338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8458200" y="41148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8622792" y="4261104"/>
            <a:ext cx="11338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4800600" y="47548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B2738">
              <a:alpha val="92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965192" y="4901184"/>
            <a:ext cx="11338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8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868680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50">
                <a:solidFill>
                  <a:srgbClr val="B5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zentrales Schema für alle Services</a:t>
            </a:r>
            <a:endParaRPr lang="en-US" sz="1250"/>
          </a:p>
          <a:p>
            <a:r>
              <a:rPr lang="en-US" sz="1250">
                <a:solidFill>
                  <a:srgbClr val="B5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Konsistente Datenmodelle</a:t>
            </a:r>
            <a:endParaRPr lang="en-US" sz="1250"/>
          </a:p>
          <a:p>
            <a:r>
              <a:rPr lang="en-US" sz="1250">
                <a:solidFill>
                  <a:srgbClr val="B5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Migrationen kontrolliert über den Auth-Service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23" name="Text 20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09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/ PODMAN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Lokales Setup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5F7FB"/>
                </a:solidFill>
              </a:rPr>
              <a:t>Ein Befehl startet die komplette Umgebung: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03080F"/>
          </a:solidFill>
          <a:ln w="12700">
            <a:solidFill>
              <a:srgbClr val="32D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BFF77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docker compose up --build -d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2240280" y="4334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206240" y="4334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172200" y="4334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8138160" y="4334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777240" y="41605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941832" y="4306824"/>
            <a:ext cx="1088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startet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2743200" y="41605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2907792" y="4306824"/>
            <a:ext cx="1088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&amp; Seed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709160" y="41605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873752" y="4306824"/>
            <a:ext cx="1088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 starten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675120" y="41605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132A4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839712" y="4306824"/>
            <a:ext cx="1088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&amp; Gateway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8641080" y="41605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8805672" y="4306824"/>
            <a:ext cx="1088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 lädt Modelle</a:t>
            </a:r>
            <a:endParaRPr lang="en-US" sz="1150"/>
          </a:p>
        </p:txBody>
      </p:sp>
      <p:sp>
        <p:nvSpPr>
          <p:cNvPr id="25" name="Text 22"/>
          <p:cNvSpPr/>
          <p:nvPr/>
        </p:nvSpPr>
        <p:spPr>
          <a:xfrm>
            <a:off x="868680" y="5669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B5C6D8"/>
                </a:solidFill>
              </a:rPr>
              <a:t>Zugriff lokal: http://localhost</a:t>
            </a:r>
            <a:endParaRPr lang="en-US" sz="1500"/>
          </a:p>
        </p:txBody>
      </p:sp>
      <p:sp>
        <p:nvSpPr>
          <p:cNvPr id="27" name="Text 23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28" name="Text 24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11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ZEIGEN STATT ERZÄHLEN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Live-Demo / Screenshots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892040" cy="1600200"/>
          </a:xfrm>
          <a:prstGeom prst="roundRect">
            <a:avLst>
              <a:gd name="adj" fmla="val 6857"/>
            </a:avLst>
          </a:prstGeom>
          <a:solidFill>
            <a:srgbClr val="07111F"/>
          </a:solidFill>
          <a:ln w="16510">
            <a:solidFill>
              <a:srgbClr val="32D5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</a:rPr>
              <a:t>Login &amp; Dashboard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B5C6D8"/>
                </a:solidFill>
              </a:rPr>
              <a:t>Startpunkt und Übersicht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F87A6"/>
                </a:solidFill>
              </a:rPr>
              <a:t>Screenshot hier einfügen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4892040" cy="1600200"/>
          </a:xfrm>
          <a:prstGeom prst="roundRect">
            <a:avLst>
              <a:gd name="adj" fmla="val 6857"/>
            </a:avLst>
          </a:prstGeom>
          <a:solidFill>
            <a:srgbClr val="07111F"/>
          </a:solidFill>
          <a:ln w="16510">
            <a:solidFill>
              <a:srgbClr val="9F7C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</a:rPr>
              <a:t>Termin erstellen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B5C6D8"/>
                </a:solidFill>
              </a:rPr>
              <a:t>Probe oder Auftritt planen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F87A6"/>
                </a:solidFill>
              </a:rPr>
              <a:t>Screenshot hier einfügen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4892040" cy="1600200"/>
          </a:xfrm>
          <a:prstGeom prst="roundRect">
            <a:avLst>
              <a:gd name="adj" fmla="val 6857"/>
            </a:avLst>
          </a:prstGeom>
          <a:solidFill>
            <a:srgbClr val="07111F"/>
          </a:solidFill>
          <a:ln w="16510">
            <a:solidFill>
              <a:srgbClr val="32D5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</a:rPr>
              <a:t>Noten hochladen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1051560" y="45720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B5C6D8"/>
                </a:solidFill>
              </a:rPr>
              <a:t>PDF ansehen und organisieren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1051560" y="49377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F87A6"/>
                </a:solidFill>
              </a:rPr>
              <a:t>Screenshot hier einfügen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4892040" cy="1600200"/>
          </a:xfrm>
          <a:prstGeom prst="roundRect">
            <a:avLst>
              <a:gd name="adj" fmla="val 6857"/>
            </a:avLst>
          </a:prstGeom>
          <a:solidFill>
            <a:srgbClr val="07111F"/>
          </a:solidFill>
          <a:ln w="16510">
            <a:solidFill>
              <a:srgbClr val="9F7C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6492240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F7FB"/>
                </a:solidFill>
              </a:rPr>
              <a:t>Chat + KI-Protokoll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6537960" y="45720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B5C6D8"/>
                </a:solidFill>
              </a:rPr>
              <a:t>Sprachnachricht wird zusammengefasst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6537960" y="49377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F87A6"/>
                </a:solidFill>
              </a:rPr>
              <a:t>Screenshot hier einfügen</a:t>
            </a:r>
            <a:endParaRPr lang="en-US" sz="950"/>
          </a:p>
        </p:txBody>
      </p:sp>
      <p:sp>
        <p:nvSpPr>
          <p:cNvPr id="24" name="Text 21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25" name="Text 22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14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ENTSCHEIDUNGEN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Herausforderungen &amp; Lösungen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2D5FF"/>
                </a:solidFill>
              </a:rPr>
              <a:t>Herausforderung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BFF77"/>
                </a:solidFill>
              </a:rPr>
              <a:t>Lösung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074920" y="20756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1078992" y="2112264"/>
            <a:ext cx="3328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Code-Duplikate zwischen Services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989320" y="196596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153912" y="2112264"/>
            <a:ext cx="3785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Gemeinsames Shared Package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07492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914400" y="2679192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1078992" y="2825496"/>
            <a:ext cx="3328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Echtzeit über mehrere Instanzen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989320" y="2679192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153912" y="2825496"/>
            <a:ext cx="3785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Zentraler Chat-Service + Bridge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5074920" y="3502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914400" y="3392424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1078992" y="3538728"/>
            <a:ext cx="3328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Migrationen koordinieren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5989320" y="3392424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6153912" y="3538728"/>
            <a:ext cx="3785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 Auth-Service migriert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5074920" y="42153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14400" y="4105656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1078992" y="4251960"/>
            <a:ext cx="3328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 braucht GPU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5989320" y="4105656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6153912" y="4251960"/>
            <a:ext cx="3785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Eigene VM statt Cloud Run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5074920" y="4928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D5A88"/>
                </a:solidFill>
              </a:rPr>
              <a:t>→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914400" y="4818888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F7C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1078992" y="4965192"/>
            <a:ext cx="3328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und Mobile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5989320" y="4818888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F2C45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6153912" y="4965192"/>
            <a:ext cx="3785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Codebasis mit Capacitor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1143000" y="58064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C6D8"/>
                </a:solidFill>
              </a:rPr>
              <a:t>Diese Punkte zeigen, dass Architektur nicht nur Technik ist, sondern viele bewusste Entscheidungen enthält.</a:t>
            </a:r>
            <a:endParaRPr lang="en-US" sz="1400"/>
          </a:p>
        </p:txBody>
      </p:sp>
      <p:sp>
        <p:nvSpPr>
          <p:cNvPr id="36" name="Text 33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37" name="Text 34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13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66928" y="347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2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ABSCHLUSS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Fazit &amp; Ausblick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279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B"/>
                </a:solidFill>
              </a:rPr>
              <a:t>Fazit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033272" y="2203704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Zentrale Plattform für Musikvereine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868680" y="2807208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1033272" y="2953512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Skalierbare Microservices-Architektur</a:t>
            </a:r>
            <a:endParaRPr lang="en-US" sz="1450"/>
          </a:p>
        </p:txBody>
      </p:sp>
      <p:sp>
        <p:nvSpPr>
          <p:cNvPr id="12" name="Shape 10"/>
          <p:cNvSpPr/>
          <p:nvPr/>
        </p:nvSpPr>
        <p:spPr>
          <a:xfrm>
            <a:off x="868680" y="3557016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0D2A46">
              <a:alpha val="92000"/>
            </a:srgbClr>
          </a:solidFill>
          <a:ln w="12700">
            <a:solidFill>
              <a:srgbClr val="32D5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1033272" y="3703320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KI-Features als echter Mehrwert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64465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B"/>
                </a:solidFill>
              </a:rPr>
              <a:t>Ausblick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6446520" y="2057400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611112" y="2203704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Automatische Setlist-Vorschläge</a:t>
            </a:r>
            <a:endParaRPr lang="en-US" sz="1450"/>
          </a:p>
        </p:txBody>
      </p:sp>
      <p:sp>
        <p:nvSpPr>
          <p:cNvPr id="17" name="Shape 15"/>
          <p:cNvSpPr/>
          <p:nvPr/>
        </p:nvSpPr>
        <p:spPr>
          <a:xfrm>
            <a:off x="6446520" y="2807208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611112" y="2953512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Push-Benachrichtigungen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6446520" y="3557016"/>
            <a:ext cx="4480560" cy="530352"/>
          </a:xfrm>
          <a:prstGeom prst="roundRect">
            <a:avLst>
              <a:gd name="adj" fmla="val 17241"/>
            </a:avLst>
          </a:prstGeom>
          <a:solidFill>
            <a:srgbClr val="14213B">
              <a:alpha val="92000"/>
            </a:srgbClr>
          </a:solidFill>
          <a:ln w="12700">
            <a:solidFill>
              <a:srgbClr val="9BFF7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6611112" y="3703320"/>
            <a:ext cx="41513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Mobile-App in Stores veröffentlichen</a:t>
            </a:r>
            <a:endParaRPr lang="en-US" sz="1450"/>
          </a:p>
        </p:txBody>
      </p:sp>
      <p:sp>
        <p:nvSpPr>
          <p:cNvPr id="21" name="Shape 19"/>
          <p:cNvSpPr/>
          <p:nvPr/>
        </p:nvSpPr>
        <p:spPr>
          <a:xfrm>
            <a:off x="1920240" y="5166360"/>
            <a:ext cx="8321040" cy="640080"/>
          </a:xfrm>
          <a:prstGeom prst="roundRect">
            <a:avLst>
              <a:gd name="adj" fmla="val 14286"/>
            </a:avLst>
          </a:prstGeom>
          <a:solidFill>
            <a:srgbClr val="1B2240">
              <a:alpha val="92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2084832" y="5312664"/>
            <a:ext cx="79918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App zeigt, wie moderne Web-Technologien, Cloud-Deployment und KI sinnvoll kombiniert werden können.</a:t>
            </a:r>
            <a:endParaRPr lang="en-US" sz="1550"/>
          </a:p>
        </p:txBody>
      </p:sp>
      <p:sp>
        <p:nvSpPr>
          <p:cNvPr id="24" name="Text 21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25" name="Text 22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15</a:t>
            </a:r>
            <a:endParaRPr lang="en-US" sz="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resolution_abstract_tech_music_them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21040" y="45720"/>
            <a:ext cx="3383280" cy="1417320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32D5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1"/>
          <p:cNvSpPr/>
          <p:nvPr/>
        </p:nvSpPr>
        <p:spPr>
          <a:xfrm>
            <a:off x="8503920" y="164592"/>
            <a:ext cx="3246120" cy="1261872"/>
          </a:xfrm>
          <a:prstGeom prst="arc">
            <a:avLst/>
          </a:prstGeom>
          <a:solidFill>
            <a:srgbClr val="07111F">
              <a:alpha val="0"/>
            </a:srgbClr>
          </a:solidFill>
          <a:ln w="12700">
            <a:solidFill>
              <a:srgbClr val="9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/>
          <p:nvPr/>
        </p:nvSpPr>
        <p:spPr>
          <a:xfrm>
            <a:off x="777240" y="1234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Vielen Dank!</a:t>
            </a:r>
            <a:endParaRPr lang="en-US" sz="3800"/>
          </a:p>
        </p:txBody>
      </p:sp>
      <p:sp>
        <p:nvSpPr>
          <p:cNvPr id="6" name="Text 3"/>
          <p:cNvSpPr/>
          <p:nvPr/>
        </p:nvSpPr>
        <p:spPr>
          <a:xfrm>
            <a:off x="804672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2D5FF"/>
                </a:solidFill>
              </a:rPr>
              <a:t>Fragen?</a:t>
            </a:r>
            <a:endParaRPr lang="en-US" sz="2600"/>
          </a:p>
        </p:txBody>
      </p:sp>
      <p:sp>
        <p:nvSpPr>
          <p:cNvPr id="11" name="Text 6"/>
          <p:cNvSpPr/>
          <p:nvPr/>
        </p:nvSpPr>
        <p:spPr>
          <a:xfrm>
            <a:off x="566928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>
                <a:solidFill>
                  <a:srgbClr val="6F87A6"/>
                </a:solidFill>
              </a:rPr>
              <a:t>Music Management App</a:t>
            </a:r>
            <a:endParaRPr lang="en-US" sz="780"/>
          </a:p>
        </p:txBody>
      </p:sp>
      <p:sp>
        <p:nvSpPr>
          <p:cNvPr id="12" name="Text 7"/>
          <p:cNvSpPr/>
          <p:nvPr/>
        </p:nvSpPr>
        <p:spPr>
          <a:xfrm>
            <a:off x="11292840" y="6455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F87A6"/>
                </a:solidFill>
              </a:rPr>
              <a:t>16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292bb9-4461-4a77-9578-1b8c41f140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164F39471EE24B8F3508C1F3D833D3" ma:contentTypeVersion="11" ma:contentTypeDescription="Create a new document." ma:contentTypeScope="" ma:versionID="30e7b2e8cf6f4feb0d025a96190d3a33">
  <xsd:schema xmlns:xsd="http://www.w3.org/2001/XMLSchema" xmlns:xs="http://www.w3.org/2001/XMLSchema" xmlns:p="http://schemas.microsoft.com/office/2006/metadata/properties" xmlns:ns3="bc292bb9-4461-4a77-9578-1b8c41f14018" targetNamespace="http://schemas.microsoft.com/office/2006/metadata/properties" ma:root="true" ma:fieldsID="84921d27e94971bea1c5eb1cae7615e2" ns3:_="">
    <xsd:import namespace="bc292bb9-4461-4a77-9578-1b8c41f1401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92bb9-4461-4a77-9578-1b8c41f1401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7E8266-3A32-4581-A20A-11537420E9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3243E0-FD97-469D-BC2C-9B3DD137D75B}">
  <ds:schemaRefs>
    <ds:schemaRef ds:uri="bc292bb9-4461-4a77-9578-1b8c41f140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EE67279-22F5-4A14-BCBF-9DEE62944C95}">
  <ds:schemaRefs>
    <ds:schemaRef ds:uri="bc292bb9-4461-4a77-9578-1b8c41f140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Management App</dc:title>
  <dc:subject>Music Management App</dc:subject>
  <dc:creator>OpenAI</dc:creator>
  <cp:revision>3</cp:revision>
  <dcterms:created xsi:type="dcterms:W3CDTF">2026-06-19T09:36:48Z</dcterms:created>
  <dcterms:modified xsi:type="dcterms:W3CDTF">2026-06-30T09:23:24Z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0x01010023164F39471EE24B8F3508C1F3D833D3</vt:lpwstr>
  </property>
</Properties>
</file>